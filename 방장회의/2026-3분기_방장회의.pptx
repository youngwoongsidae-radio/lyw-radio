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안내" id="{f9612012-e2de-66d5-d067-9c11b2852d31}">
          <p14:sldIdLst>
            <p14:sldId id="256"/>
            <p14:sldId id="257"/>
          </p14:sldIdLst>
        </p14:section>
        <p14:section name="타임테이블" id="{40fc4951-5a99-62fd-2ae3-14879181f66b}">
          <p14:sldIdLst>
            <p14:sldId id="258"/>
            <p14:sldId id="259"/>
          </p14:sldIdLst>
        </p14:section>
        <p14:section name="안건 아이디어" id="{a51bbce8-12db-3d3a-b1f0-551cd4741aae}">
          <p14:sldIdLst>
            <p14:sldId id="260"/>
            <p14:sldId id="261"/>
            <p14:sldId id="262"/>
          </p14:sldIdLst>
        </p14:section>
        <p14:section name="마무리" id="{b506fcf5-677c-c02f-1a44-cc10685d6fd1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방장님들, 안녕하세요! 3/4분기 전국 방장회의 일정과 진행 순서를 안내드립니다.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스포티파이 편 수치는 방별 인증 입력표 기준(10/14).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9418320" y="6172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영웅시대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9418320" y="6172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영웅시대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2026 3/4분기 전국 방장회의 · 영웅시대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식 원 1"/>
          <p:cNvSpPr/>
          <p:nvPr/>
        </p:nvSpPr>
        <p:spPr>
          <a:xfrm>
            <a:off x="8595360" y="-1463040"/>
            <a:ext cx="4754880" cy="4754880"/>
          </a:xfrm>
          <a:prstGeom prst="ellipse">
            <a:avLst/>
          </a:prstGeom>
          <a:ln w="19050">
            <a:solidFill>
              <a:srgbClr val="5EC8F2">
                <a:alpha val="30000"/>
              </a:srgbClr>
            </a:solidFill>
            <a:prstDash val="solid"/>
          </a:ln>
        </p:spPr>
      </p:sp>
      <p:sp>
        <p:nvSpPr>
          <p:cNvPr id="3" name="장식 원 2"/>
          <p:cNvSpPr/>
          <p:nvPr/>
        </p:nvSpPr>
        <p:spPr>
          <a:xfrm>
            <a:off x="9509760" y="-731520"/>
            <a:ext cx="3108960" cy="3108960"/>
          </a:xfrm>
          <a:prstGeom prst="ellipse">
            <a:avLst/>
          </a:prstGeom>
          <a:ln w="19050">
            <a:solidFill>
              <a:srgbClr val="5EC8F2">
                <a:alpha val="25000"/>
              </a:srgbClr>
            </a:solidFill>
            <a:prstDash val="solid"/>
          </a:ln>
        </p:spPr>
      </p:sp>
      <p:sp>
        <p:nvSpPr>
          <p:cNvPr id="4" name="분기 배지"/>
          <p:cNvSpPr/>
          <p:nvPr/>
        </p:nvSpPr>
        <p:spPr>
          <a:xfrm>
            <a:off x="731520" y="128016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2026 · 3/4분기</a:t>
            </a:r>
            <a:endParaRPr lang="en-US" sz="16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전국 </a:t>
            </a:r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방장회의</a:t>
            </a:r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 안내</a:t>
            </a:r>
            <a:endParaRPr lang="en-US" sz="5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10월 31일(토) ~ 11월 1일(일) · 1박 2일 · 여주 썬밸리호텔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기본 안내</a:t>
            </a:r>
            <a:endParaRPr lang="en-US" sz="3400" dirty="0"/>
          </a:p>
        </p:txBody>
      </p:sp>
      <p:sp>
        <p:nvSpPr>
          <p:cNvPr id="3" name="안내 카드 1"/>
          <p:cNvSpPr/>
          <p:nvPr/>
        </p:nvSpPr>
        <p:spPr>
          <a:xfrm>
            <a:off x="640080" y="1463040"/>
            <a:ext cx="53492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/>
        </p:spPr>
      </p:sp>
      <p:sp>
        <p:nvSpPr>
          <p:cNvPr id="4" name="아이콘 원 1"/>
          <p:cNvSpPr/>
          <p:nvPr/>
        </p:nvSpPr>
        <p:spPr>
          <a:xfrm>
            <a:off x="960120" y="182880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🗓️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810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일시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10.31(토) ~ 11.1(일)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1박 2일</a:t>
            </a:r>
            <a:endParaRPr lang="en-US" sz="1400" dirty="0"/>
          </a:p>
        </p:txBody>
      </p:sp>
      <p:sp>
        <p:nvSpPr>
          <p:cNvPr id="9" name="안내 카드 2"/>
          <p:cNvSpPr/>
          <p:nvPr/>
        </p:nvSpPr>
        <p:spPr>
          <a:xfrm>
            <a:off x="6172200" y="1463040"/>
            <a:ext cx="53492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/>
        </p:spPr>
      </p:sp>
      <p:sp>
        <p:nvSpPr>
          <p:cNvPr id="10" name="아이콘 원 2"/>
          <p:cNvSpPr/>
          <p:nvPr/>
        </p:nvSpPr>
        <p:spPr>
          <a:xfrm>
            <a:off x="6492240" y="182880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810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집결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10.31(토) 오전 11:30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이천 임금님쌀밥집에서 집결</a:t>
            </a:r>
            <a:endParaRPr lang="en-US" sz="1400" dirty="0"/>
          </a:p>
        </p:txBody>
      </p:sp>
      <p:sp>
        <p:nvSpPr>
          <p:cNvPr id="15" name="안내 카드 3"/>
          <p:cNvSpPr/>
          <p:nvPr/>
        </p:nvSpPr>
        <p:spPr>
          <a:xfrm>
            <a:off x="640080" y="3794760"/>
            <a:ext cx="53492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/>
        </p:spPr>
      </p:sp>
      <p:sp>
        <p:nvSpPr>
          <p:cNvPr id="16" name="아이콘 원 3"/>
          <p:cNvSpPr/>
          <p:nvPr/>
        </p:nvSpPr>
        <p:spPr>
          <a:xfrm>
            <a:off x="960120" y="416052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🍚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142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점심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4526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임금님쌀밥집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이천 경충대로 3134</a:t>
            </a:r>
            <a:endParaRPr lang="en-US" sz="1400" dirty="0"/>
          </a:p>
        </p:txBody>
      </p:sp>
      <p:sp>
        <p:nvSpPr>
          <p:cNvPr id="21" name="안내 카드 4"/>
          <p:cNvSpPr/>
          <p:nvPr/>
        </p:nvSpPr>
        <p:spPr>
          <a:xfrm>
            <a:off x="6172200" y="3794760"/>
            <a:ext cx="53492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/>
        </p:spPr>
      </p:sp>
      <p:sp>
        <p:nvSpPr>
          <p:cNvPr id="22" name="아이콘 원 4"/>
          <p:cNvSpPr/>
          <p:nvPr/>
        </p:nvSpPr>
        <p:spPr>
          <a:xfrm>
            <a:off x="6492240" y="416052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🏨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4142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회의 · 숙박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4526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여주 썬밸리호텔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대상 : 전국 방장님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1일차 · 10월 31일(토)</a:t>
            </a:r>
            <a:endParaRPr lang="en-US" sz="3400" dirty="0"/>
          </a:p>
        </p:txBody>
      </p:sp>
      <p:sp>
        <p:nvSpPr>
          <p:cNvPr id="3" name="타임라인"/>
          <p:cNvSpPr/>
          <p:nvPr/>
        </p:nvSpPr>
        <p:spPr>
          <a:xfrm>
            <a:off x="2148840" y="1587731"/>
            <a:ext cx="0" cy="4322618"/>
          </a:xfrm>
          <a:prstGeom prst="line">
            <a:avLst/>
          </a:prstGeom>
          <a:noFill/>
          <a:ln w="25400">
            <a:solidFill>
              <a:srgbClr val="BDE9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28016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11:30</a:t>
            </a:r>
            <a:endParaRPr lang="en-US" sz="1600" dirty="0"/>
          </a:p>
        </p:txBody>
      </p:sp>
      <p:sp>
        <p:nvSpPr>
          <p:cNvPr id="5" name="점 0"/>
          <p:cNvSpPr/>
          <p:nvPr/>
        </p:nvSpPr>
        <p:spPr>
          <a:xfrm>
            <a:off x="2057400" y="1496291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06040" y="1371600"/>
            <a:ext cx="877824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집결 · 점심 식사 (이천 임금님쌀밥집)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03862"/>
            <a:ext cx="128016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13:00</a:t>
            </a:r>
            <a:endParaRPr lang="en-US" sz="1600" dirty="0"/>
          </a:p>
        </p:txBody>
      </p:sp>
      <p:sp>
        <p:nvSpPr>
          <p:cNvPr id="8" name="점 1"/>
          <p:cNvSpPr/>
          <p:nvPr/>
        </p:nvSpPr>
        <p:spPr>
          <a:xfrm>
            <a:off x="2057400" y="1928553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803862"/>
            <a:ext cx="877824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카페 이동 · 뉴욕 타임스퀘어 결산보고 ☕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36124"/>
            <a:ext cx="128016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14:30</a:t>
            </a:r>
            <a:endParaRPr lang="en-US" sz="1600" dirty="0"/>
          </a:p>
        </p:txBody>
      </p:sp>
      <p:sp>
        <p:nvSpPr>
          <p:cNvPr id="11" name="점 2"/>
          <p:cNvSpPr/>
          <p:nvPr/>
        </p:nvSpPr>
        <p:spPr>
          <a:xfrm>
            <a:off x="2057400" y="2360815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06040" y="2236124"/>
            <a:ext cx="877824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호텔 이동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68385"/>
            <a:ext cx="128016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15:00</a:t>
            </a:r>
            <a:endParaRPr lang="en-US" sz="1600" dirty="0"/>
          </a:p>
        </p:txBody>
      </p:sp>
      <p:sp>
        <p:nvSpPr>
          <p:cNvPr id="14" name="점 3"/>
          <p:cNvSpPr/>
          <p:nvPr/>
        </p:nvSpPr>
        <p:spPr>
          <a:xfrm>
            <a:off x="2057400" y="2793076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06040" y="2668385"/>
            <a:ext cx="877824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체크인 · 회의 준비</a:t>
            </a:r>
            <a:endParaRPr lang="en-US" sz="1600" dirty="0"/>
          </a:p>
        </p:txBody>
      </p:sp>
      <p:sp>
        <p:nvSpPr>
          <p:cNvPr id="16" name="안건 강조 4"/>
          <p:cNvSpPr/>
          <p:nvPr/>
        </p:nvSpPr>
        <p:spPr>
          <a:xfrm>
            <a:off x="2423160" y="3128079"/>
            <a:ext cx="9052560" cy="377398"/>
          </a:xfrm>
          <a:prstGeom prst="roundRect">
            <a:avLst>
              <a:gd name="adj" fmla="val 36344"/>
            </a:avLst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100647"/>
            <a:ext cx="128016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15:30</a:t>
            </a:r>
            <a:endParaRPr lang="en-US" sz="1600" dirty="0"/>
          </a:p>
        </p:txBody>
      </p:sp>
      <p:sp>
        <p:nvSpPr>
          <p:cNvPr id="18" name="점 4"/>
          <p:cNvSpPr/>
          <p:nvPr/>
        </p:nvSpPr>
        <p:spPr>
          <a:xfrm>
            <a:off x="2057400" y="3225338"/>
            <a:ext cx="182880" cy="18288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06040" y="3100647"/>
            <a:ext cx="877824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안건 1 · 전국 응원 방향  /  안건 2 · 총공 화력 응원 방향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532909"/>
            <a:ext cx="128016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17:10</a:t>
            </a:r>
            <a:endParaRPr lang="en-US" sz="1600" dirty="0"/>
          </a:p>
        </p:txBody>
      </p:sp>
      <p:sp>
        <p:nvSpPr>
          <p:cNvPr id="21" name="점 5"/>
          <p:cNvSpPr/>
          <p:nvPr/>
        </p:nvSpPr>
        <p:spPr>
          <a:xfrm>
            <a:off x="2057400" y="365760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06040" y="3532909"/>
            <a:ext cx="877824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Tea break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965171"/>
            <a:ext cx="128016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17:20</a:t>
            </a:r>
            <a:endParaRPr lang="en-US" sz="1600" dirty="0"/>
          </a:p>
        </p:txBody>
      </p:sp>
      <p:sp>
        <p:nvSpPr>
          <p:cNvPr id="24" name="점 6"/>
          <p:cNvSpPr/>
          <p:nvPr/>
        </p:nvSpPr>
        <p:spPr>
          <a:xfrm>
            <a:off x="2057400" y="4089862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06040" y="3965171"/>
            <a:ext cx="877824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선물 나눔 · 행운권 추첨 🎁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397433"/>
            <a:ext cx="128016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18:00</a:t>
            </a:r>
            <a:endParaRPr lang="en-US" sz="1600" dirty="0"/>
          </a:p>
        </p:txBody>
      </p:sp>
      <p:sp>
        <p:nvSpPr>
          <p:cNvPr id="27" name="점 7"/>
          <p:cNvSpPr/>
          <p:nvPr/>
        </p:nvSpPr>
        <p:spPr>
          <a:xfrm>
            <a:off x="2057400" y="4522124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06040" y="4397433"/>
            <a:ext cx="877824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저녁 식사 (호텔 11층)</a:t>
            </a:r>
            <a:endParaRPr lang="en-US" sz="1600" dirty="0"/>
          </a:p>
        </p:txBody>
      </p:sp>
      <p:sp>
        <p:nvSpPr>
          <p:cNvPr id="29" name="안건 강조 8"/>
          <p:cNvSpPr/>
          <p:nvPr/>
        </p:nvSpPr>
        <p:spPr>
          <a:xfrm>
            <a:off x="2423160" y="4857127"/>
            <a:ext cx="9052560" cy="377398"/>
          </a:xfrm>
          <a:prstGeom prst="roundRect">
            <a:avLst>
              <a:gd name="adj" fmla="val 36344"/>
            </a:avLst>
          </a:prstGeom>
          <a:solidFill>
            <a:schemeClr val="accent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829695"/>
            <a:ext cx="128016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19:30</a:t>
            </a:r>
            <a:endParaRPr lang="en-US" sz="1600" dirty="0"/>
          </a:p>
        </p:txBody>
      </p:sp>
      <p:sp>
        <p:nvSpPr>
          <p:cNvPr id="31" name="점 8"/>
          <p:cNvSpPr/>
          <p:nvPr/>
        </p:nvSpPr>
        <p:spPr>
          <a:xfrm>
            <a:off x="2057400" y="4954385"/>
            <a:ext cx="182880" cy="18288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06040" y="4829695"/>
            <a:ext cx="877824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안건 3 · 응원 서포트 관련 &amp; 기타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261956"/>
            <a:ext cx="128016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21:00</a:t>
            </a:r>
            <a:endParaRPr lang="en-US" sz="1600" dirty="0"/>
          </a:p>
        </p:txBody>
      </p:sp>
      <p:sp>
        <p:nvSpPr>
          <p:cNvPr id="34" name="점 9"/>
          <p:cNvSpPr/>
          <p:nvPr/>
        </p:nvSpPr>
        <p:spPr>
          <a:xfrm>
            <a:off x="2057400" y="5386647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06040" y="5261956"/>
            <a:ext cx="877824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팀 레크리에이션 🎉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694218"/>
            <a:ext cx="128016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22:00~</a:t>
            </a:r>
            <a:endParaRPr lang="en-US" sz="1600" dirty="0"/>
          </a:p>
        </p:txBody>
      </p:sp>
      <p:sp>
        <p:nvSpPr>
          <p:cNvPr id="37" name="점 10"/>
          <p:cNvSpPr/>
          <p:nvPr/>
        </p:nvSpPr>
        <p:spPr>
          <a:xfrm>
            <a:off x="2057400" y="5818909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06040" y="5694218"/>
            <a:ext cx="8778240" cy="43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취침 및 자율 시간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2일차 · 11월 1일(일)</a:t>
            </a:r>
            <a:endParaRPr lang="en-US" sz="3400" dirty="0"/>
          </a:p>
        </p:txBody>
      </p:sp>
      <p:sp>
        <p:nvSpPr>
          <p:cNvPr id="3" name="타임라인"/>
          <p:cNvSpPr/>
          <p:nvPr/>
        </p:nvSpPr>
        <p:spPr>
          <a:xfrm>
            <a:off x="2148840" y="1591056"/>
            <a:ext cx="0" cy="2633472"/>
          </a:xfrm>
          <a:prstGeom prst="line">
            <a:avLst/>
          </a:prstGeom>
          <a:noFill/>
          <a:ln w="25400">
            <a:solidFill>
              <a:srgbClr val="BDE9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07:00</a:t>
            </a:r>
            <a:endParaRPr lang="en-US" sz="1600" dirty="0"/>
          </a:p>
        </p:txBody>
      </p:sp>
      <p:sp>
        <p:nvSpPr>
          <p:cNvPr id="5" name="점 0"/>
          <p:cNvSpPr/>
          <p:nvPr/>
        </p:nvSpPr>
        <p:spPr>
          <a:xfrm>
            <a:off x="2057400" y="1499616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06040" y="137160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스파 &amp; 휴식 ♨️ (희망자)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105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08:30</a:t>
            </a:r>
            <a:endParaRPr lang="en-US" sz="1600" dirty="0"/>
          </a:p>
        </p:txBody>
      </p:sp>
      <p:sp>
        <p:nvSpPr>
          <p:cNvPr id="8" name="점 1"/>
          <p:cNvSpPr/>
          <p:nvPr/>
        </p:nvSpPr>
        <p:spPr>
          <a:xfrm>
            <a:off x="2057400" y="1938528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81051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조식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4942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10:00</a:t>
            </a:r>
            <a:endParaRPr lang="en-US" sz="1600" dirty="0"/>
          </a:p>
        </p:txBody>
      </p:sp>
      <p:sp>
        <p:nvSpPr>
          <p:cNvPr id="11" name="점 2"/>
          <p:cNvSpPr/>
          <p:nvPr/>
        </p:nvSpPr>
        <p:spPr>
          <a:xfrm>
            <a:off x="2057400" y="237744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06040" y="2249424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체크아웃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8833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10:30</a:t>
            </a:r>
            <a:endParaRPr lang="en-US" sz="1600" dirty="0"/>
          </a:p>
        </p:txBody>
      </p:sp>
      <p:sp>
        <p:nvSpPr>
          <p:cNvPr id="14" name="점 3"/>
          <p:cNvSpPr/>
          <p:nvPr/>
        </p:nvSpPr>
        <p:spPr>
          <a:xfrm>
            <a:off x="2057400" y="2816352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06040" y="2688336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신륵사 산책 🍂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272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12:00</a:t>
            </a:r>
            <a:endParaRPr lang="en-US" sz="1600" dirty="0"/>
          </a:p>
        </p:txBody>
      </p:sp>
      <p:sp>
        <p:nvSpPr>
          <p:cNvPr id="17" name="점 4"/>
          <p:cNvSpPr/>
          <p:nvPr/>
        </p:nvSpPr>
        <p:spPr>
          <a:xfrm>
            <a:off x="2057400" y="3255264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06040" y="31272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여주아울렛 이동 🛍️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661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13:00</a:t>
            </a:r>
            <a:endParaRPr lang="en-US" sz="1600" dirty="0"/>
          </a:p>
        </p:txBody>
      </p:sp>
      <p:sp>
        <p:nvSpPr>
          <p:cNvPr id="20" name="점 5"/>
          <p:cNvSpPr/>
          <p:nvPr/>
        </p:nvSpPr>
        <p:spPr>
          <a:xfrm>
            <a:off x="2057400" y="3694176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06040" y="356616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점심 식사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0050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14:00~</a:t>
            </a:r>
            <a:endParaRPr lang="en-US" sz="1600" dirty="0"/>
          </a:p>
        </p:txBody>
      </p:sp>
      <p:sp>
        <p:nvSpPr>
          <p:cNvPr id="23" name="점 6"/>
          <p:cNvSpPr/>
          <p:nvPr/>
        </p:nvSpPr>
        <p:spPr>
          <a:xfrm>
            <a:off x="2057400" y="4133088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06040" y="40050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자율 시간 · 귀가</a:t>
            </a:r>
            <a:endParaRPr lang="en-US" sz="1600" dirty="0"/>
          </a:p>
        </p:txBody>
      </p:sp>
      <p:sp>
        <p:nvSpPr>
          <p:cNvPr id="25" name="2일차 하이라이트"/>
          <p:cNvSpPr/>
          <p:nvPr/>
        </p:nvSpPr>
        <p:spPr>
          <a:xfrm>
            <a:off x="7589520" y="1371600"/>
            <a:ext cx="3931920" cy="4206240"/>
          </a:xfrm>
          <a:prstGeom prst="roundRect">
            <a:avLst>
              <a:gd name="adj" fmla="val 3488"/>
            </a:avLst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095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2일차 포인트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♨️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854964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아침 스파 &amp; 휴식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54964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07:00 · 희망자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🍂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854964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신륵사 가을 산책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549640" y="3630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10:30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9095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🛍️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54964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여주아울렛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549640" y="4681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12:00 이동 · 13:00 점심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※ 타임테이블은 가안이며 변동될 수 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안건 1  </a:t>
            </a:r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전국 응원 방향</a:t>
            </a:r>
            <a:endParaRPr lang="en-US" sz="3400" dirty="0"/>
          </a:p>
        </p:txBody>
      </p:sp>
      <p:sp>
        <p:nvSpPr>
          <p:cNvPr id="3" name="아이디어 카드 1"/>
          <p:cNvSpPr/>
          <p:nvPr/>
        </p:nvSpPr>
        <p:spPr>
          <a:xfrm>
            <a:off x="640080" y="1463040"/>
            <a:ext cx="532638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번호 원 1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4183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4분기 공동 응원 캘린더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48234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연말 시상식·방송·공연 일정을 한 장 캘린더로 만들어 전 방에 같은 날 공지 — 방마다 따로 안내하는 수고를 줄입니다.</a:t>
            </a:r>
            <a:endParaRPr lang="en-US" sz="1400" dirty="0"/>
          </a:p>
        </p:txBody>
      </p:sp>
      <p:sp>
        <p:nvSpPr>
          <p:cNvPr id="8" name="아이디어 카드 2"/>
          <p:cNvSpPr/>
          <p:nvPr/>
        </p:nvSpPr>
        <p:spPr>
          <a:xfrm>
            <a:off x="6240780" y="1463040"/>
            <a:ext cx="532638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9" name="번호 원 2"/>
          <p:cNvSpPr/>
          <p:nvPr/>
        </p:nvSpPr>
        <p:spPr>
          <a:xfrm>
            <a:off x="651510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51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55180" y="1737360"/>
            <a:ext cx="4183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권역 거점방 운영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15100" y="2377440"/>
            <a:ext cx="48234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수도권·충청·호남·영남·해외 등 권역별 대표방을 정해 권역 단위로 소식과 일정을 빠르게 전달합니다.</a:t>
            </a:r>
            <a:endParaRPr lang="en-US" sz="1400" dirty="0"/>
          </a:p>
        </p:txBody>
      </p:sp>
      <p:sp>
        <p:nvSpPr>
          <p:cNvPr id="13" name="아이디어 카드 3"/>
          <p:cNvSpPr/>
          <p:nvPr/>
        </p:nvSpPr>
        <p:spPr>
          <a:xfrm>
            <a:off x="640080" y="3886200"/>
            <a:ext cx="532638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4" name="번호 원 3"/>
          <p:cNvSpPr/>
          <p:nvPr/>
        </p:nvSpPr>
        <p:spPr>
          <a:xfrm>
            <a:off x="914400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160520"/>
            <a:ext cx="4183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응원 매너 가이드 통일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800600"/>
            <a:ext cx="48234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온라인·현장 응원 수칙을 카드 한 장으로 정리해 모든 방에 동일하게 공지합니다.</a:t>
            </a:r>
            <a:endParaRPr lang="en-US" sz="1400" dirty="0"/>
          </a:p>
        </p:txBody>
      </p:sp>
      <p:sp>
        <p:nvSpPr>
          <p:cNvPr id="18" name="아이디어 카드 4"/>
          <p:cNvSpPr/>
          <p:nvPr/>
        </p:nvSpPr>
        <p:spPr>
          <a:xfrm>
            <a:off x="6240780" y="3886200"/>
            <a:ext cx="532638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번호 원 4"/>
          <p:cNvSpPr/>
          <p:nvPr/>
        </p:nvSpPr>
        <p:spPr>
          <a:xfrm>
            <a:off x="6515100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151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55180" y="4160520"/>
            <a:ext cx="4183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신규 회원 웰컴 안내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15100" y="4800600"/>
            <a:ext cx="48234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인증 방법·총공 참여법·방 규칙을 담은 공통 안내문 템플릿을 만들어 각 방에서 바로 씁니다.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안건 2  </a:t>
            </a:r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총공 화력 응원 방향</a:t>
            </a:r>
            <a:endParaRPr lang="en-US" sz="3400" dirty="0"/>
          </a:p>
        </p:txBody>
      </p:sp>
      <p:sp>
        <p:nvSpPr>
          <p:cNvPr id="3" name="아이디어 카드 1"/>
          <p:cNvSpPr/>
          <p:nvPr/>
        </p:nvSpPr>
        <p:spPr>
          <a:xfrm>
            <a:off x="4343400" y="1463040"/>
            <a:ext cx="347472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번호 원 1"/>
          <p:cNvSpPr/>
          <p:nvPr/>
        </p:nvSpPr>
        <p:spPr>
          <a:xfrm>
            <a:off x="461772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6177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방별 음팀 연락책 지정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23774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방마다 1명을 정해 총공 공지·인증 취합을 맡깁니다. 아직 참여 전인 31개 방부터 우선.</a:t>
            </a:r>
            <a:endParaRPr lang="en-US" sz="1400" dirty="0"/>
          </a:p>
        </p:txBody>
      </p:sp>
      <p:sp>
        <p:nvSpPr>
          <p:cNvPr id="8" name="아이디어 카드 2"/>
          <p:cNvSpPr/>
          <p:nvPr/>
        </p:nvSpPr>
        <p:spPr>
          <a:xfrm>
            <a:off x="8092440" y="1463040"/>
            <a:ext cx="347472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9" name="번호 원 2"/>
          <p:cNvSpPr/>
          <p:nvPr/>
        </p:nvSpPr>
        <p:spPr>
          <a:xfrm>
            <a:off x="836676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667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‘한 장’ 모자이크 정례화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3774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스포티파이 편처럼 참여가 눈에 보이는 이벤트를 멜론 등 플랫폼별 시리즈로 이어갑니다.</a:t>
            </a:r>
            <a:endParaRPr lang="en-US" sz="1400" dirty="0"/>
          </a:p>
        </p:txBody>
      </p:sp>
      <p:sp>
        <p:nvSpPr>
          <p:cNvPr id="13" name="아이디어 카드 3"/>
          <p:cNvSpPr/>
          <p:nvPr/>
        </p:nvSpPr>
        <p:spPr>
          <a:xfrm>
            <a:off x="4343400" y="3886200"/>
            <a:ext cx="347472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4" name="번호 원 3"/>
          <p:cNvSpPr/>
          <p:nvPr/>
        </p:nvSpPr>
        <p:spPr>
          <a:xfrm>
            <a:off x="4617720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참여율 기준 응원상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800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칸 수 순위 대신 방 인원 대비 참여율로도 시상해 작은 방도 함께 동기부여합니다.</a:t>
            </a:r>
            <a:endParaRPr lang="en-US" sz="1400" dirty="0"/>
          </a:p>
        </p:txBody>
      </p:sp>
      <p:sp>
        <p:nvSpPr>
          <p:cNvPr id="18" name="아이디어 카드 4"/>
          <p:cNvSpPr/>
          <p:nvPr/>
        </p:nvSpPr>
        <p:spPr>
          <a:xfrm>
            <a:off x="8092440" y="3886200"/>
            <a:ext cx="347472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번호 원 4"/>
          <p:cNvSpPr/>
          <p:nvPr/>
        </p:nvSpPr>
        <p:spPr>
          <a:xfrm>
            <a:off x="8366760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667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골든타임 알림 + 초보 가이드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800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총공 시간대를 정해 단체 알림하고, 처음 하는 분을 위한 3단계 카드뉴스를 배포합니다.</a:t>
            </a:r>
            <a:endParaRPr lang="en-US" sz="1400" dirty="0"/>
          </a:p>
        </p:txBody>
      </p:sp>
      <p:sp>
        <p:nvSpPr>
          <p:cNvPr id="23" name="스포티파이 결과 패널"/>
          <p:cNvSpPr/>
          <p:nvPr/>
        </p:nvSpPr>
        <p:spPr>
          <a:xfrm>
            <a:off x="640080" y="1463040"/>
            <a:ext cx="3429000" cy="452628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스포티파이 편 결과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2148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324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/ 500칸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2898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인증 칸 · 완성률 64.8%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17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/ 48개 방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3995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참여한 방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343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31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개 방</a:t>
            </a:r>
            <a:endParaRPr lang="en-US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5093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아직 참여 전 — 화력의 열쇠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안건 3  </a:t>
            </a:r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응원 서포트 관련 &amp; 기타</a:t>
            </a:r>
            <a:endParaRPr lang="en-US" sz="3400" dirty="0"/>
          </a:p>
        </p:txBody>
      </p:sp>
      <p:sp>
        <p:nvSpPr>
          <p:cNvPr id="3" name="아이디어 카드 1"/>
          <p:cNvSpPr/>
          <p:nvPr/>
        </p:nvSpPr>
        <p:spPr>
          <a:xfrm>
            <a:off x="640080" y="1463040"/>
            <a:ext cx="532638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번호 원 1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4183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서포트 정산 공개 표준화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48234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뉴욕 타임스퀘어 결산보고 양식을 템플릿으로 만들어 모금·지출·잔액을 같은 형식으로 공개합니다.</a:t>
            </a:r>
            <a:endParaRPr lang="en-US" sz="1400" dirty="0"/>
          </a:p>
        </p:txBody>
      </p:sp>
      <p:sp>
        <p:nvSpPr>
          <p:cNvPr id="8" name="아이디어 카드 2"/>
          <p:cNvSpPr/>
          <p:nvPr/>
        </p:nvSpPr>
        <p:spPr>
          <a:xfrm>
            <a:off x="6240780" y="1463040"/>
            <a:ext cx="532638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9" name="번호 원 2"/>
          <p:cNvSpPr/>
          <p:nvPr/>
        </p:nvSpPr>
        <p:spPr>
          <a:xfrm>
            <a:off x="651510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51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55180" y="1737360"/>
            <a:ext cx="4183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서포트 아이디어 공모 · 투표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15100" y="2377440"/>
            <a:ext cx="48234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분기마다 방별로 서포트 아이디어를 받고 전체 투표로 정해 참여감과 투명성을 높입니다.</a:t>
            </a:r>
            <a:endParaRPr lang="en-US" sz="1400" dirty="0"/>
          </a:p>
        </p:txBody>
      </p:sp>
      <p:sp>
        <p:nvSpPr>
          <p:cNvPr id="13" name="아이디어 카드 3"/>
          <p:cNvSpPr/>
          <p:nvPr/>
        </p:nvSpPr>
        <p:spPr>
          <a:xfrm>
            <a:off x="640080" y="3886200"/>
            <a:ext cx="532638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4" name="번호 원 3"/>
          <p:cNvSpPr/>
          <p:nvPr/>
        </p:nvSpPr>
        <p:spPr>
          <a:xfrm>
            <a:off x="914400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160520"/>
            <a:ext cx="4183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나눔 · 봉사 연계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800600"/>
            <a:ext cx="48234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기부·봉사형 서포트를 함께 기획해 팬덤의 선한 영향력을 이어갑니다.</a:t>
            </a:r>
            <a:endParaRPr lang="en-US" sz="1400" dirty="0"/>
          </a:p>
        </p:txBody>
      </p:sp>
      <p:sp>
        <p:nvSpPr>
          <p:cNvPr id="18" name="아이디어 카드 4"/>
          <p:cNvSpPr/>
          <p:nvPr/>
        </p:nvSpPr>
        <p:spPr>
          <a:xfrm>
            <a:off x="6240780" y="3886200"/>
            <a:ext cx="532638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번호 원 4"/>
          <p:cNvSpPr/>
          <p:nvPr/>
        </p:nvSpPr>
        <p:spPr>
          <a:xfrm>
            <a:off x="6515100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151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55180" y="4160520"/>
            <a:ext cx="4183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다음 회의 준비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15100" y="4800600"/>
            <a:ext cx="48234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4/4분기 개최지는 권역 순번제로, 안건은 회의 2주 전 설문으로 미리 취합합니다.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방장님께 부탁드려요</a:t>
            </a:r>
            <a:endParaRPr lang="en-US" sz="4400" dirty="0"/>
          </a:p>
        </p:txBody>
      </p:sp>
      <p:sp>
        <p:nvSpPr>
          <p:cNvPr id="3" name="부탁 카드 1"/>
          <p:cNvSpPr/>
          <p:nvPr/>
        </p:nvSpPr>
        <p:spPr>
          <a:xfrm>
            <a:off x="731520" y="3429000"/>
            <a:ext cx="3383280" cy="2377440"/>
          </a:xfrm>
          <a:prstGeom prst="roundRect">
            <a:avLst>
              <a:gd name="adj" fmla="val 5769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86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우리 방 의견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3891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안건 1·2·3에 대한 방 회원들의 의견과 아이디어를 미리 모아 와 주세요</a:t>
            </a:r>
            <a:endParaRPr lang="en-US" sz="1400" dirty="0"/>
          </a:p>
        </p:txBody>
      </p:sp>
      <p:sp>
        <p:nvSpPr>
          <p:cNvPr id="7" name="부탁 카드 2"/>
          <p:cNvSpPr/>
          <p:nvPr/>
        </p:nvSpPr>
        <p:spPr>
          <a:xfrm>
            <a:off x="4343400" y="3429000"/>
            <a:ext cx="3383280" cy="2377440"/>
          </a:xfrm>
          <a:prstGeom prst="roundRect">
            <a:avLst>
              <a:gd name="adj" fmla="val 5769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886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우리 방 현황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43891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회원 수와 이번 분기 활동(총공·서포트)을 간단히 정리해 주세요</a:t>
            </a:r>
            <a:endParaRPr lang="en-US" sz="1400" dirty="0"/>
          </a:p>
        </p:txBody>
      </p:sp>
      <p:sp>
        <p:nvSpPr>
          <p:cNvPr id="11" name="부탁 카드 3"/>
          <p:cNvSpPr/>
          <p:nvPr/>
        </p:nvSpPr>
        <p:spPr>
          <a:xfrm>
            <a:off x="7955280" y="3429000"/>
            <a:ext cx="3383280" cy="2377440"/>
          </a:xfrm>
          <a:prstGeom prst="roundRect">
            <a:avLst>
              <a:gd name="adj" fmla="val 5769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🎒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886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개인 준비물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3891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1박 짐, 편한 복장, 스파 희망자는 스파용품</a:t>
            </a:r>
            <a:endParaRPr lang="en-US" sz="1400" dirty="0"/>
          </a:p>
        </p:txBody>
      </p:sp>
      <p:sp>
        <p:nvSpPr>
          <p:cNvPr id="15" name="Text 0"/>
          <p:cNvSpPr/>
          <p:nvPr>
            <p:ph idx="101" type="body" hasCustomPrompt="1"/>
          </p:nvPr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10월 31일, 여주에서 만나요!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ro Sky">
  <a:themeElements>
    <a:clrScheme name="Hero Sky">
      <a:dk1>
        <a:srgbClr val="0B1B3F"/>
      </a:dk1>
      <a:lt1>
        <a:srgbClr val="FFFFFF"/>
      </a:lt1>
      <a:dk2>
        <a:srgbClr val="13285A"/>
      </a:dk2>
      <a:lt2>
        <a:srgbClr val="EEF6FC"/>
      </a:lt2>
      <a:accent1>
        <a:srgbClr val="5EC8F2"/>
      </a:accent1>
      <a:accent2>
        <a:srgbClr val="FFC94D"/>
      </a:accent2>
      <a:accent3>
        <a:srgbClr val="2E7DB8"/>
      </a:accent3>
      <a:accent4>
        <a:srgbClr val="8FA3C4"/>
      </a:accent4>
      <a:accent5>
        <a:srgbClr val="BDE9FB"/>
      </a:accent5>
      <a:accent6>
        <a:srgbClr val="F28C6B"/>
      </a:accent6>
      <a:hlink>
        <a:srgbClr val="2E7DB8"/>
      </a:hlink>
      <a:folHlink>
        <a:srgbClr val="13285A"/>
      </a:folHlink>
    </a:clrScheme>
    <a:fontScheme name="Hero Sky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3/4분기 전국 방장회의</dc:title>
  <dc:subject>PptxGenJS Presentation</dc:subject>
  <dc:creator>PptxGenJS</dc:creator>
  <cp:lastModifiedBy>PptxGenJS</cp:lastModifiedBy>
  <cp:revision>1</cp:revision>
  <dcterms:created xsi:type="dcterms:W3CDTF">2026-10-16T01:49:58Z</dcterms:created>
  <dcterms:modified xsi:type="dcterms:W3CDTF">2026-10-16T01:49:58Z</dcterms:modified>
</cp:coreProperties>
</file>